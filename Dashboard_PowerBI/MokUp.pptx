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CC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3FDDF7-6976-C554-34D3-9B6718FA1D7D}" v="1255" dt="2025-05-21T00:34:38.0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EBA31B32EFAF0CB8/Presentaci%C3%B3n%202_L%C3%ADne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INGRESOS, COSTOS Y UTILIDAD BRUTA POR MES</a:t>
            </a:r>
          </a:p>
        </c:rich>
      </c:tx>
      <c:layout>
        <c:manualLayout>
          <c:xMode val="edge"/>
          <c:yMode val="edge"/>
          <c:x val="0.22370267700359373"/>
          <c:y val="0.2456516995887074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20E-46CD-963A-6112034B98C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20E-46CD-963A-6112034B98C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20E-46CD-963A-6112034B98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44269136"/>
        <c:axId val="944269616"/>
      </c:lineChart>
      <c:catAx>
        <c:axId val="94426913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44269616"/>
        <c:crosses val="autoZero"/>
        <c:auto val="1"/>
        <c:lblAlgn val="ctr"/>
        <c:lblOffset val="100"/>
        <c:noMultiLvlLbl val="0"/>
      </c:catAx>
      <c:valAx>
        <c:axId val="9442696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442691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20/05/2025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20/05/2025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20/05/2025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20/05/2025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20/05/2025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20/05/2025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20/05/2025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20/05/2025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20/05/2025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20/05/2025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20/05/2025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20/05/2025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EB01463-6F2E-F560-D3B4-0BF73B6A5F8F}"/>
              </a:ext>
            </a:extLst>
          </p:cNvPr>
          <p:cNvSpPr/>
          <p:nvPr/>
        </p:nvSpPr>
        <p:spPr>
          <a:xfrm>
            <a:off x="-27603" y="13801"/>
            <a:ext cx="12227882" cy="6831604"/>
          </a:xfrm>
          <a:prstGeom prst="rect">
            <a:avLst/>
          </a:prstGeom>
          <a:solidFill>
            <a:srgbClr val="CCCC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Outdoor Education &amp; Professional Training - AdventureWorks Auckland">
            <a:extLst>
              <a:ext uri="{FF2B5EF4-FFF2-40B4-BE49-F238E27FC236}">
                <a16:creationId xmlns:a16="http://schemas.microsoft.com/office/drawing/2014/main" id="{0F875383-1422-360A-9C4C-272B3D5BF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644" y="450"/>
            <a:ext cx="10905066" cy="4034876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33DF4D4-D16F-55AF-2058-98EE6B40EFF5}"/>
              </a:ext>
            </a:extLst>
          </p:cNvPr>
          <p:cNvSpPr/>
          <p:nvPr/>
        </p:nvSpPr>
        <p:spPr>
          <a:xfrm>
            <a:off x="1460245" y="4426141"/>
            <a:ext cx="3660923" cy="1022759"/>
          </a:xfrm>
          <a:prstGeom prst="roundRect">
            <a:avLst/>
          </a:prstGeom>
          <a:solidFill>
            <a:srgbClr val="C1E5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2400" b="1" dirty="0">
                <a:solidFill>
                  <a:schemeClr val="tx1"/>
                </a:solidFill>
              </a:rPr>
              <a:t>Análisis de ventas y costos general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C698BC3A-2C3B-9C42-23F1-667EB923E5E7}"/>
              </a:ext>
            </a:extLst>
          </p:cNvPr>
          <p:cNvSpPr/>
          <p:nvPr/>
        </p:nvSpPr>
        <p:spPr>
          <a:xfrm>
            <a:off x="7513913" y="4426141"/>
            <a:ext cx="3675034" cy="10227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2400" b="1" dirty="0">
                <a:solidFill>
                  <a:schemeClr val="tx1"/>
                </a:solidFill>
              </a:rPr>
              <a:t>Análisis detallado (USA)</a:t>
            </a: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Outdoor Education &amp; Professional Training - AdventureWorks Auckland">
            <a:extLst>
              <a:ext uri="{FF2B5EF4-FFF2-40B4-BE49-F238E27FC236}">
                <a16:creationId xmlns:a16="http://schemas.microsoft.com/office/drawing/2014/main" id="{C933E271-9523-24AC-EBFD-9F9C33B9F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8638" y="2776537"/>
            <a:ext cx="3514725" cy="1304925"/>
          </a:xfrm>
          <a:prstGeom prst="rect">
            <a:avLst/>
          </a:prstGeom>
        </p:spPr>
      </p:pic>
      <p:sp>
        <p:nvSpPr>
          <p:cNvPr id="6" name="Rectangle 9">
            <a:extLst>
              <a:ext uri="{FF2B5EF4-FFF2-40B4-BE49-F238E27FC236}">
                <a16:creationId xmlns:a16="http://schemas.microsoft.com/office/drawing/2014/main" id="{BAFB6D91-A4FC-81A7-2352-8BA7B42AA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6411079-4F4C-6C6A-02C4-DA7F641BCCB9}"/>
              </a:ext>
            </a:extLst>
          </p:cNvPr>
          <p:cNvSpPr/>
          <p:nvPr/>
        </p:nvSpPr>
        <p:spPr>
          <a:xfrm>
            <a:off x="0" y="-13802"/>
            <a:ext cx="12200279" cy="6873008"/>
          </a:xfrm>
          <a:prstGeom prst="rect">
            <a:avLst/>
          </a:prstGeom>
          <a:solidFill>
            <a:srgbClr val="CCCC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Imagen 6" descr="Outdoor Education &amp; Professional Training - AdventureWorks Auckland">
            <a:extLst>
              <a:ext uri="{FF2B5EF4-FFF2-40B4-BE49-F238E27FC236}">
                <a16:creationId xmlns:a16="http://schemas.microsoft.com/office/drawing/2014/main" id="{4A053D4A-5E15-71BF-A006-0807BA936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" y="321204"/>
            <a:ext cx="3514725" cy="1304925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71D4B224-24EE-6DB1-63C3-F950BE47475D}"/>
              </a:ext>
            </a:extLst>
          </p:cNvPr>
          <p:cNvSpPr txBox="1"/>
          <p:nvPr/>
        </p:nvSpPr>
        <p:spPr>
          <a:xfrm>
            <a:off x="4002931" y="384523"/>
            <a:ext cx="799516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3200" b="1" dirty="0"/>
              <a:t>ANALISIS DE VENTAS ADVENTUREWORKS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66CE06F6-0F77-B3B7-4704-965AE0DFF5D7}"/>
              </a:ext>
            </a:extLst>
          </p:cNvPr>
          <p:cNvSpPr/>
          <p:nvPr/>
        </p:nvSpPr>
        <p:spPr>
          <a:xfrm>
            <a:off x="3537182" y="1146195"/>
            <a:ext cx="1816279" cy="511379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dirty="0"/>
              <a:t>FECHA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46016769-A322-9E91-7223-025DDBF0E78A}"/>
              </a:ext>
            </a:extLst>
          </p:cNvPr>
          <p:cNvSpPr/>
          <p:nvPr/>
        </p:nvSpPr>
        <p:spPr>
          <a:xfrm>
            <a:off x="5710293" y="1146195"/>
            <a:ext cx="1816279" cy="511379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dirty="0"/>
              <a:t>PRODUCTO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C8A6F6AF-F325-C5B9-E891-607C75B866DC}"/>
              </a:ext>
            </a:extLst>
          </p:cNvPr>
          <p:cNvSpPr/>
          <p:nvPr/>
        </p:nvSpPr>
        <p:spPr>
          <a:xfrm>
            <a:off x="7869293" y="1146195"/>
            <a:ext cx="1816279" cy="511379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dirty="0"/>
              <a:t>PAIS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24BC1F31-90DD-78D4-8EA6-8552D3742E47}"/>
              </a:ext>
            </a:extLst>
          </p:cNvPr>
          <p:cNvSpPr/>
          <p:nvPr/>
        </p:nvSpPr>
        <p:spPr>
          <a:xfrm>
            <a:off x="10183514" y="1146195"/>
            <a:ext cx="1816279" cy="511379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dirty="0"/>
              <a:t>MES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8E2280C-C664-258A-9206-0C1F0912823D}"/>
              </a:ext>
            </a:extLst>
          </p:cNvPr>
          <p:cNvSpPr/>
          <p:nvPr/>
        </p:nvSpPr>
        <p:spPr>
          <a:xfrm>
            <a:off x="9457904" y="1936131"/>
            <a:ext cx="2535538" cy="1498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</a:rPr>
              <a:t>COSTOS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9139BA3-74E8-2867-3931-8E64166B8EAE}"/>
              </a:ext>
            </a:extLst>
          </p:cNvPr>
          <p:cNvSpPr/>
          <p:nvPr/>
        </p:nvSpPr>
        <p:spPr>
          <a:xfrm>
            <a:off x="111442" y="5371266"/>
            <a:ext cx="11896113" cy="148169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s-ES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2A686D5C-3928-EFEE-CA22-84C782C04063}"/>
              </a:ext>
            </a:extLst>
          </p:cNvPr>
          <p:cNvSpPr/>
          <p:nvPr/>
        </p:nvSpPr>
        <p:spPr>
          <a:xfrm>
            <a:off x="257460" y="1936131"/>
            <a:ext cx="2535538" cy="1498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</a:rPr>
              <a:t>INGRESOS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BBB321F-D509-27FB-37DE-AF89D31FF2D5}"/>
              </a:ext>
            </a:extLst>
          </p:cNvPr>
          <p:cNvSpPr/>
          <p:nvPr/>
        </p:nvSpPr>
        <p:spPr>
          <a:xfrm>
            <a:off x="3333682" y="1936131"/>
            <a:ext cx="2535538" cy="1498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</a:rPr>
              <a:t>UTILIDAD BRUTA</a:t>
            </a:r>
          </a:p>
        </p:txBody>
      </p:sp>
      <p:graphicFrame>
        <p:nvGraphicFramePr>
          <p:cNvPr id="25" name="Gráfico 24">
            <a:extLst>
              <a:ext uri="{FF2B5EF4-FFF2-40B4-BE49-F238E27FC236}">
                <a16:creationId xmlns:a16="http://schemas.microsoft.com/office/drawing/2014/main" id="{51EA8E06-6BED-7393-9690-09AF021441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1762271"/>
              </p:ext>
            </p:extLst>
          </p:nvPr>
        </p:nvGraphicFramePr>
        <p:xfrm>
          <a:off x="-971825" y="2682760"/>
          <a:ext cx="10416266" cy="35763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Rectángulo 22">
            <a:extLst>
              <a:ext uri="{FF2B5EF4-FFF2-40B4-BE49-F238E27FC236}">
                <a16:creationId xmlns:a16="http://schemas.microsoft.com/office/drawing/2014/main" id="{7FFFC692-0AE1-0A81-9BF5-560609E51423}"/>
              </a:ext>
            </a:extLst>
          </p:cNvPr>
          <p:cNvSpPr/>
          <p:nvPr/>
        </p:nvSpPr>
        <p:spPr>
          <a:xfrm>
            <a:off x="6438127" y="1936131"/>
            <a:ext cx="2535538" cy="1498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</a:rPr>
              <a:t>UTILIDAD NETA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C387D78-7F51-0774-25CC-5DE68174DBA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2000"/>
          </a:blip>
          <a:stretch>
            <a:fillRect/>
          </a:stretch>
        </p:blipFill>
        <p:spPr>
          <a:xfrm rot="10800000">
            <a:off x="117265" y="5379602"/>
            <a:ext cx="2928490" cy="1153918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C9FBB8D-304F-3538-7997-D2CA0B2E3E32}"/>
              </a:ext>
            </a:extLst>
          </p:cNvPr>
          <p:cNvSpPr txBox="1"/>
          <p:nvPr/>
        </p:nvSpPr>
        <p:spPr>
          <a:xfrm>
            <a:off x="260993" y="6504984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>
                <a:ea typeface="+mn-lt"/>
                <a:cs typeface="+mn-lt"/>
              </a:rPr>
              <a:t>Margen de utilidad neta</a:t>
            </a:r>
            <a:endParaRPr lang="es-ES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B57F631-8324-D10C-BE0C-0017DDF20D2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3000"/>
          </a:blip>
          <a:stretch>
            <a:fillRect/>
          </a:stretch>
        </p:blipFill>
        <p:spPr>
          <a:xfrm rot="10800000">
            <a:off x="4233593" y="5380725"/>
            <a:ext cx="3192853" cy="1143003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732E6C11-BDCC-FDED-2797-AC3B8CE9813A}"/>
              </a:ext>
            </a:extLst>
          </p:cNvPr>
          <p:cNvSpPr txBox="1"/>
          <p:nvPr/>
        </p:nvSpPr>
        <p:spPr>
          <a:xfrm>
            <a:off x="4442367" y="652394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/>
              <a:t>Margen de utilidad bruta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BB9AC2F0-08C7-A949-123D-0DCCD85BA6BA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3000"/>
          </a:blip>
          <a:stretch>
            <a:fillRect/>
          </a:stretch>
        </p:blipFill>
        <p:spPr>
          <a:xfrm rot="16200000">
            <a:off x="9655385" y="2704830"/>
            <a:ext cx="1392628" cy="3216754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82C565FA-6DB6-8E83-CAA5-30C72541EC03}"/>
              </a:ext>
            </a:extLst>
          </p:cNvPr>
          <p:cNvSpPr txBox="1"/>
          <p:nvPr/>
        </p:nvSpPr>
        <p:spPr>
          <a:xfrm>
            <a:off x="9689662" y="4643496"/>
            <a:ext cx="15498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 dirty="0"/>
              <a:t>% COSTOS</a:t>
            </a: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7FED0E02-E2C1-EC79-4381-40A53A4B3F88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3000"/>
          </a:blip>
          <a:stretch>
            <a:fillRect/>
          </a:stretch>
        </p:blipFill>
        <p:spPr>
          <a:xfrm rot="10800000">
            <a:off x="8795978" y="5371379"/>
            <a:ext cx="3226459" cy="1161692"/>
          </a:xfrm>
          <a:prstGeom prst="rect">
            <a:avLst/>
          </a:prstGeom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8B488462-8F64-C5B5-70A8-BEBDF8169988}"/>
              </a:ext>
            </a:extLst>
          </p:cNvPr>
          <p:cNvSpPr txBox="1"/>
          <p:nvPr/>
        </p:nvSpPr>
        <p:spPr>
          <a:xfrm>
            <a:off x="8886259" y="6521064"/>
            <a:ext cx="305950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/>
              <a:t>Ratio de costo operacional</a:t>
            </a:r>
          </a:p>
        </p:txBody>
      </p:sp>
    </p:spTree>
    <p:extLst>
      <p:ext uri="{BB962C8B-B14F-4D97-AF65-F5344CB8AC3E}">
        <p14:creationId xmlns:p14="http://schemas.microsoft.com/office/powerpoint/2010/main" val="810476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Outdoor Education &amp; Professional Training - AdventureWorks Auckland">
            <a:extLst>
              <a:ext uri="{FF2B5EF4-FFF2-40B4-BE49-F238E27FC236}">
                <a16:creationId xmlns:a16="http://schemas.microsoft.com/office/drawing/2014/main" id="{79C7430F-FE3F-0E9A-ABA1-5E2B09EF9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" y="321204"/>
            <a:ext cx="3514725" cy="130492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8E961FF-42E9-7D35-A90B-FE5BBCB15581}"/>
              </a:ext>
            </a:extLst>
          </p:cNvPr>
          <p:cNvSpPr txBox="1"/>
          <p:nvPr/>
        </p:nvSpPr>
        <p:spPr>
          <a:xfrm>
            <a:off x="5364014" y="421851"/>
            <a:ext cx="394360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 b="1" dirty="0"/>
              <a:t>VENTAS EN USA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07C6DEF5-3670-A8DD-AB78-D0B1095D6B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190611"/>
              </p:ext>
            </p:extLst>
          </p:nvPr>
        </p:nvGraphicFramePr>
        <p:xfrm>
          <a:off x="55217" y="4417391"/>
          <a:ext cx="11883835" cy="24221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426">
                  <a:extLst>
                    <a:ext uri="{9D8B030D-6E8A-4147-A177-3AD203B41FA5}">
                      <a16:colId xmlns:a16="http://schemas.microsoft.com/office/drawing/2014/main" val="3920765569"/>
                    </a:ext>
                  </a:extLst>
                </a:gridCol>
                <a:gridCol w="1320426">
                  <a:extLst>
                    <a:ext uri="{9D8B030D-6E8A-4147-A177-3AD203B41FA5}">
                      <a16:colId xmlns:a16="http://schemas.microsoft.com/office/drawing/2014/main" val="1023868843"/>
                    </a:ext>
                  </a:extLst>
                </a:gridCol>
                <a:gridCol w="1320426">
                  <a:extLst>
                    <a:ext uri="{9D8B030D-6E8A-4147-A177-3AD203B41FA5}">
                      <a16:colId xmlns:a16="http://schemas.microsoft.com/office/drawing/2014/main" val="1405316320"/>
                    </a:ext>
                  </a:extLst>
                </a:gridCol>
                <a:gridCol w="1320426">
                  <a:extLst>
                    <a:ext uri="{9D8B030D-6E8A-4147-A177-3AD203B41FA5}">
                      <a16:colId xmlns:a16="http://schemas.microsoft.com/office/drawing/2014/main" val="2651088006"/>
                    </a:ext>
                  </a:extLst>
                </a:gridCol>
                <a:gridCol w="1457298">
                  <a:extLst>
                    <a:ext uri="{9D8B030D-6E8A-4147-A177-3AD203B41FA5}">
                      <a16:colId xmlns:a16="http://schemas.microsoft.com/office/drawing/2014/main" val="417784424"/>
                    </a:ext>
                  </a:extLst>
                </a:gridCol>
                <a:gridCol w="1183555">
                  <a:extLst>
                    <a:ext uri="{9D8B030D-6E8A-4147-A177-3AD203B41FA5}">
                      <a16:colId xmlns:a16="http://schemas.microsoft.com/office/drawing/2014/main" val="4118166644"/>
                    </a:ext>
                  </a:extLst>
                </a:gridCol>
                <a:gridCol w="1320426">
                  <a:extLst>
                    <a:ext uri="{9D8B030D-6E8A-4147-A177-3AD203B41FA5}">
                      <a16:colId xmlns:a16="http://schemas.microsoft.com/office/drawing/2014/main" val="2430565223"/>
                    </a:ext>
                  </a:extLst>
                </a:gridCol>
                <a:gridCol w="1320426">
                  <a:extLst>
                    <a:ext uri="{9D8B030D-6E8A-4147-A177-3AD203B41FA5}">
                      <a16:colId xmlns:a16="http://schemas.microsoft.com/office/drawing/2014/main" val="2649938567"/>
                    </a:ext>
                  </a:extLst>
                </a:gridCol>
                <a:gridCol w="1320426">
                  <a:extLst>
                    <a:ext uri="{9D8B030D-6E8A-4147-A177-3AD203B41FA5}">
                      <a16:colId xmlns:a16="http://schemas.microsoft.com/office/drawing/2014/main" val="2224731523"/>
                    </a:ext>
                  </a:extLst>
                </a:gridCol>
              </a:tblGrid>
              <a:tr h="59403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dirty="0"/>
                        <a:t>Provincia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dirty="0"/>
                        <a:t>Ciudad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Categoria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Ingresos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Utilidades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Margen Neto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Margen Bruto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Costos de </a:t>
                      </a:r>
                      <a:r>
                        <a:rPr lang="es-ES" dirty="0" err="1"/>
                        <a:t>envio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285921"/>
                  </a:ext>
                </a:extLst>
              </a:tr>
              <a:tr h="594031">
                <a:tc>
                  <a:txBody>
                    <a:bodyPr/>
                    <a:lstStyle/>
                    <a:p>
                      <a:r>
                        <a:rPr lang="es-E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$1000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$500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$100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$50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725534"/>
                  </a:ext>
                </a:extLst>
              </a:tr>
              <a:tr h="594031">
                <a:tc>
                  <a:txBody>
                    <a:bodyPr/>
                    <a:lstStyle/>
                    <a:p>
                      <a:r>
                        <a:rPr lang="es-E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$2000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$800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$200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$80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435854"/>
                  </a:ext>
                </a:extLst>
              </a:tr>
              <a:tr h="594031">
                <a:tc>
                  <a:txBody>
                    <a:bodyPr/>
                    <a:lstStyle/>
                    <a:p>
                      <a:r>
                        <a:rPr lang="es-ES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$3000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$400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$300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$70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1801783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93BDBF77-596D-D1BE-C80C-E9D0884C7070}"/>
              </a:ext>
            </a:extLst>
          </p:cNvPr>
          <p:cNvSpPr/>
          <p:nvPr/>
        </p:nvSpPr>
        <p:spPr>
          <a:xfrm>
            <a:off x="5355449" y="1791277"/>
            <a:ext cx="6529706" cy="22898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jjsjhh</a:t>
            </a:r>
          </a:p>
        </p:txBody>
      </p:sp>
      <p:pic>
        <p:nvPicPr>
          <p:cNvPr id="9" name="Imagen 8" descr="Icono&#10;&#10;El contenido generado por IA puede ser incorrecto.">
            <a:extLst>
              <a:ext uri="{FF2B5EF4-FFF2-40B4-BE49-F238E27FC236}">
                <a16:creationId xmlns:a16="http://schemas.microsoft.com/office/drawing/2014/main" id="{FB6E8D3A-7A3A-1D41-859E-2EC3AFEDC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8504" y="2260120"/>
            <a:ext cx="6074614" cy="1805798"/>
          </a:xfrm>
          <a:prstGeom prst="rect">
            <a:avLst/>
          </a:prstGeom>
        </p:spPr>
      </p:pic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ED2ECEC0-89D7-FF89-0E80-0928799CCA78}"/>
              </a:ext>
            </a:extLst>
          </p:cNvPr>
          <p:cNvSpPr/>
          <p:nvPr/>
        </p:nvSpPr>
        <p:spPr>
          <a:xfrm>
            <a:off x="289826" y="1856828"/>
            <a:ext cx="4526800" cy="23105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2800" b="1" dirty="0">
                <a:solidFill>
                  <a:schemeClr val="tx1"/>
                </a:solidFill>
              </a:rPr>
              <a:t>$1, 834, 989</a:t>
            </a:r>
          </a:p>
          <a:p>
            <a:pPr algn="ctr"/>
            <a:endParaRPr lang="es-ES" sz="2800" b="1" dirty="0">
              <a:solidFill>
                <a:schemeClr val="tx1"/>
              </a:solidFill>
            </a:endParaRPr>
          </a:p>
          <a:p>
            <a:pPr algn="ctr"/>
            <a:r>
              <a:rPr lang="es-ES" sz="2800" b="1" dirty="0">
                <a:solidFill>
                  <a:schemeClr val="tx1"/>
                </a:solidFill>
              </a:rPr>
              <a:t>Washington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8E39D1F-EFDC-A999-BDC8-E98D1952459D}"/>
              </a:ext>
            </a:extLst>
          </p:cNvPr>
          <p:cNvSpPr txBox="1"/>
          <p:nvPr/>
        </p:nvSpPr>
        <p:spPr>
          <a:xfrm>
            <a:off x="5990908" y="1798165"/>
            <a:ext cx="500044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 dirty="0"/>
              <a:t>COGS y Margen de Utilidad Bruta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0D06163-8087-65A4-A1A2-EB147029EA2E}"/>
              </a:ext>
            </a:extLst>
          </p:cNvPr>
          <p:cNvSpPr txBox="1"/>
          <p:nvPr/>
        </p:nvSpPr>
        <p:spPr>
          <a:xfrm>
            <a:off x="5990305" y="3182321"/>
            <a:ext cx="108980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dirty="0"/>
              <a:t>COGS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4034609-4995-6908-CB6D-A57AF3377345}"/>
              </a:ext>
            </a:extLst>
          </p:cNvPr>
          <p:cNvSpPr txBox="1"/>
          <p:nvPr/>
        </p:nvSpPr>
        <p:spPr>
          <a:xfrm>
            <a:off x="5886208" y="258253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/>
              <a:t>Margen de utilidad bruta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A7E23FF-4A67-8FB1-749A-B147E126E4D2}"/>
              </a:ext>
            </a:extLst>
          </p:cNvPr>
          <p:cNvSpPr txBox="1"/>
          <p:nvPr/>
        </p:nvSpPr>
        <p:spPr>
          <a:xfrm>
            <a:off x="7936330" y="407136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dirty="0"/>
              <a:t>Ciudad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1C9690C-8B7D-A0DD-44B0-55C69C8D194E}"/>
              </a:ext>
            </a:extLst>
          </p:cNvPr>
          <p:cNvSpPr txBox="1"/>
          <p:nvPr/>
        </p:nvSpPr>
        <p:spPr>
          <a:xfrm rot="16200000">
            <a:off x="4171320" y="170265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dirty="0"/>
              <a:t>Valor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C666DBD-04F6-8D09-4123-02611F9EB04B}"/>
              </a:ext>
            </a:extLst>
          </p:cNvPr>
          <p:cNvSpPr/>
          <p:nvPr/>
        </p:nvSpPr>
        <p:spPr>
          <a:xfrm>
            <a:off x="5362208" y="1031634"/>
            <a:ext cx="1903939" cy="39735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err="1">
                <a:solidFill>
                  <a:schemeClr val="bg2">
                    <a:lumMod val="90000"/>
                  </a:schemeClr>
                </a:solidFill>
              </a:rPr>
              <a:t>All</a:t>
            </a:r>
            <a:r>
              <a:rPr lang="es-ES" dirty="0">
                <a:solidFill>
                  <a:schemeClr val="bg2">
                    <a:lumMod val="90000"/>
                  </a:schemeClr>
                </a:solidFill>
              </a:rPr>
              <a:t>( )</a:t>
            </a:r>
            <a:r>
              <a:rPr lang="es-ES" dirty="0">
                <a:solidFill>
                  <a:schemeClr val="tx1"/>
                </a:solidFill>
              </a:rPr>
              <a:t>                           </a:t>
            </a:r>
          </a:p>
        </p:txBody>
      </p:sp>
      <p:sp>
        <p:nvSpPr>
          <p:cNvPr id="17" name="Triángulo isósceles 16">
            <a:extLst>
              <a:ext uri="{FF2B5EF4-FFF2-40B4-BE49-F238E27FC236}">
                <a16:creationId xmlns:a16="http://schemas.microsoft.com/office/drawing/2014/main" id="{CF380A4B-4C55-1927-CA4E-1EB846E981F9}"/>
              </a:ext>
            </a:extLst>
          </p:cNvPr>
          <p:cNvSpPr/>
          <p:nvPr/>
        </p:nvSpPr>
        <p:spPr>
          <a:xfrm rot="10800000">
            <a:off x="6798189" y="1131124"/>
            <a:ext cx="386434" cy="202985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0A12CB3-B696-DC3F-8CEA-287E3615817E}"/>
              </a:ext>
            </a:extLst>
          </p:cNvPr>
          <p:cNvSpPr txBox="1"/>
          <p:nvPr/>
        </p:nvSpPr>
        <p:spPr>
          <a:xfrm>
            <a:off x="4442840" y="105923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dirty="0"/>
              <a:t>Año</a:t>
            </a:r>
          </a:p>
        </p:txBody>
      </p:sp>
      <p:sp>
        <p:nvSpPr>
          <p:cNvPr id="19" name="CuadroTexto 12">
            <a:extLst>
              <a:ext uri="{FF2B5EF4-FFF2-40B4-BE49-F238E27FC236}">
                <a16:creationId xmlns:a16="http://schemas.microsoft.com/office/drawing/2014/main" id="{41C9690C-8B7D-A0DD-44B0-55C69C8D194E}"/>
              </a:ext>
            </a:extLst>
          </p:cNvPr>
          <p:cNvSpPr txBox="1"/>
          <p:nvPr/>
        </p:nvSpPr>
        <p:spPr>
          <a:xfrm rot="16200000">
            <a:off x="4171320" y="1702657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dirty="0"/>
              <a:t>Valor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C666DBD-04F6-8D09-4123-02611F9EB04B}"/>
              </a:ext>
            </a:extLst>
          </p:cNvPr>
          <p:cNvSpPr/>
          <p:nvPr/>
        </p:nvSpPr>
        <p:spPr>
          <a:xfrm>
            <a:off x="5362208" y="1031634"/>
            <a:ext cx="1903939" cy="39735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err="1">
                <a:solidFill>
                  <a:schemeClr val="bg2">
                    <a:lumMod val="90000"/>
                  </a:schemeClr>
                </a:solidFill>
              </a:rPr>
              <a:t>All</a:t>
            </a:r>
            <a:r>
              <a:rPr lang="es-ES" dirty="0">
                <a:solidFill>
                  <a:schemeClr val="bg2">
                    <a:lumMod val="90000"/>
                  </a:schemeClr>
                </a:solidFill>
              </a:rPr>
              <a:t>( )</a:t>
            </a:r>
            <a:r>
              <a:rPr lang="es-ES" dirty="0">
                <a:solidFill>
                  <a:schemeClr val="tx1"/>
                </a:solidFill>
              </a:rPr>
              <a:t>                           </a:t>
            </a:r>
          </a:p>
        </p:txBody>
      </p:sp>
      <p:sp>
        <p:nvSpPr>
          <p:cNvPr id="22" name="Triángulo isósceles 21">
            <a:extLst>
              <a:ext uri="{FF2B5EF4-FFF2-40B4-BE49-F238E27FC236}">
                <a16:creationId xmlns:a16="http://schemas.microsoft.com/office/drawing/2014/main" id="{CF380A4B-4C55-1927-CA4E-1EB846E981F9}"/>
              </a:ext>
            </a:extLst>
          </p:cNvPr>
          <p:cNvSpPr/>
          <p:nvPr/>
        </p:nvSpPr>
        <p:spPr>
          <a:xfrm rot="10800000">
            <a:off x="6798189" y="1131124"/>
            <a:ext cx="386434" cy="202985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/>
          </a:p>
        </p:txBody>
      </p:sp>
      <p:sp>
        <p:nvSpPr>
          <p:cNvPr id="23" name="CuadroTexto 17">
            <a:extLst>
              <a:ext uri="{FF2B5EF4-FFF2-40B4-BE49-F238E27FC236}">
                <a16:creationId xmlns:a16="http://schemas.microsoft.com/office/drawing/2014/main" id="{70A12CB3-B696-DC3F-8CEA-287E3615817E}"/>
              </a:ext>
            </a:extLst>
          </p:cNvPr>
          <p:cNvSpPr txBox="1"/>
          <p:nvPr/>
        </p:nvSpPr>
        <p:spPr>
          <a:xfrm>
            <a:off x="4442840" y="1059237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dirty="0"/>
              <a:t>Año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EDD59B89-76F6-ACA1-2EEE-9C78A2E6F851}"/>
              </a:ext>
            </a:extLst>
          </p:cNvPr>
          <p:cNvSpPr/>
          <p:nvPr/>
        </p:nvSpPr>
        <p:spPr>
          <a:xfrm>
            <a:off x="9646661" y="1017256"/>
            <a:ext cx="1903939" cy="39735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err="1">
                <a:solidFill>
                  <a:schemeClr val="bg2">
                    <a:lumMod val="90000"/>
                  </a:schemeClr>
                </a:solidFill>
              </a:rPr>
              <a:t>All</a:t>
            </a:r>
            <a:r>
              <a:rPr lang="es-ES" dirty="0">
                <a:solidFill>
                  <a:schemeClr val="bg2">
                    <a:lumMod val="90000"/>
                  </a:schemeClr>
                </a:solidFill>
              </a:rPr>
              <a:t>( )</a:t>
            </a:r>
            <a:r>
              <a:rPr lang="es-ES" dirty="0">
                <a:solidFill>
                  <a:schemeClr val="tx1"/>
                </a:solidFill>
              </a:rPr>
              <a:t>                           </a:t>
            </a:r>
          </a:p>
        </p:txBody>
      </p:sp>
      <p:sp>
        <p:nvSpPr>
          <p:cNvPr id="26" name="Triángulo isósceles 25">
            <a:extLst>
              <a:ext uri="{FF2B5EF4-FFF2-40B4-BE49-F238E27FC236}">
                <a16:creationId xmlns:a16="http://schemas.microsoft.com/office/drawing/2014/main" id="{B8E6E18C-007B-4CA5-B584-61C77EA69AD9}"/>
              </a:ext>
            </a:extLst>
          </p:cNvPr>
          <p:cNvSpPr/>
          <p:nvPr/>
        </p:nvSpPr>
        <p:spPr>
          <a:xfrm rot="10800000">
            <a:off x="11082642" y="1116746"/>
            <a:ext cx="386434" cy="202985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B945431-C030-1603-D63F-A2256AB96D6F}"/>
              </a:ext>
            </a:extLst>
          </p:cNvPr>
          <p:cNvSpPr txBox="1"/>
          <p:nvPr/>
        </p:nvSpPr>
        <p:spPr>
          <a:xfrm>
            <a:off x="8727293" y="104485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dirty="0"/>
              <a:t>Año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C38652D7-4940-49C3-8B1B-B8DE34BDAD8D}"/>
              </a:ext>
            </a:extLst>
          </p:cNvPr>
          <p:cNvSpPr/>
          <p:nvPr/>
        </p:nvSpPr>
        <p:spPr>
          <a:xfrm>
            <a:off x="9646661" y="1017256"/>
            <a:ext cx="1903939" cy="39735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err="1">
                <a:solidFill>
                  <a:schemeClr val="bg2">
                    <a:lumMod val="90000"/>
                  </a:schemeClr>
                </a:solidFill>
              </a:rPr>
              <a:t>All</a:t>
            </a:r>
            <a:r>
              <a:rPr lang="es-ES" dirty="0">
                <a:solidFill>
                  <a:schemeClr val="bg2">
                    <a:lumMod val="90000"/>
                  </a:schemeClr>
                </a:solidFill>
              </a:rPr>
              <a:t>( )</a:t>
            </a:r>
            <a:r>
              <a:rPr lang="es-ES" dirty="0">
                <a:solidFill>
                  <a:schemeClr val="tx1"/>
                </a:solidFill>
              </a:rPr>
              <a:t>                           </a:t>
            </a:r>
          </a:p>
        </p:txBody>
      </p:sp>
      <p:sp>
        <p:nvSpPr>
          <p:cNvPr id="29" name="Triángulo isósceles 28">
            <a:extLst>
              <a:ext uri="{FF2B5EF4-FFF2-40B4-BE49-F238E27FC236}">
                <a16:creationId xmlns:a16="http://schemas.microsoft.com/office/drawing/2014/main" id="{54CDDB33-B919-9666-CCA8-739629D85F14}"/>
              </a:ext>
            </a:extLst>
          </p:cNvPr>
          <p:cNvSpPr/>
          <p:nvPr/>
        </p:nvSpPr>
        <p:spPr>
          <a:xfrm rot="10800000">
            <a:off x="11082642" y="1116746"/>
            <a:ext cx="386434" cy="202985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/>
          </a:p>
        </p:txBody>
      </p:sp>
      <p:sp>
        <p:nvSpPr>
          <p:cNvPr id="30" name="CuadroTexto 17">
            <a:extLst>
              <a:ext uri="{FF2B5EF4-FFF2-40B4-BE49-F238E27FC236}">
                <a16:creationId xmlns:a16="http://schemas.microsoft.com/office/drawing/2014/main" id="{FBE99AF6-B278-5B03-B997-2A2BAAFA3954}"/>
              </a:ext>
            </a:extLst>
          </p:cNvPr>
          <p:cNvSpPr txBox="1"/>
          <p:nvPr/>
        </p:nvSpPr>
        <p:spPr>
          <a:xfrm>
            <a:off x="8727293" y="1044859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dirty="0"/>
              <a:t>Año</a:t>
            </a:r>
          </a:p>
        </p:txBody>
      </p:sp>
    </p:spTree>
    <p:extLst>
      <p:ext uri="{BB962C8B-B14F-4D97-AF65-F5344CB8AC3E}">
        <p14:creationId xmlns:p14="http://schemas.microsoft.com/office/powerpoint/2010/main" val="3307451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4" baseType="lpstr">
      <vt:lpstr>Tema de Office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456</cp:revision>
  <dcterms:created xsi:type="dcterms:W3CDTF">2025-05-20T17:34:59Z</dcterms:created>
  <dcterms:modified xsi:type="dcterms:W3CDTF">2025-05-21T00:35:15Z</dcterms:modified>
</cp:coreProperties>
</file>